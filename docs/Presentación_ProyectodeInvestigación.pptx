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Th+BznzcKQONVbQ8Ya0J7TbAE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B90FA5-7CD3-40C3-97F0-4426E6201B33}">
  <a:tblStyle styleId="{B2B90FA5-7CD3-40C3-97F0-4426E6201B3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8657b100b7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8657b100b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657b100b7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8657b100b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0e885ff54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0e885ff5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65bcfebff_0_14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865bcfebff_0_1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0e885ff5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0e885ff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0e885ff54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0e885ff5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865bcfebff_0_4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g3865bcfebff_0_4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g3865bcfebff_0_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865bcfebff_0_8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g3865bcfebff_0_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865bcfebff_0_1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g3865bcfebff_0_1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g3865bcfebff_0_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865bcfebff_0_1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g3865bcfebff_0_1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g3865bcfebff_0_1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g3865bcfebff_0_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865bcfebff_0_2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g3865bcfebff_0_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865bcfebff_0_23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g3865bcfebff_0_23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g3865bcfebff_0_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865bcfebff_0_27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g3865bcfebff_0_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865bcfebff_0_3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865bcfebff_0_30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g3865bcfebff_0_30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g3865bcfebff_0_30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0" name="Google Shape;40;g3865bcfebff_0_3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865bcfebff_0_36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g3865bcfebff_0_3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865bcfebff_0_39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g3865bcfebff_0_39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g3865bcfebff_0_3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865bcfebff_0_4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865bcfebff_0_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865bcfebff_0_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g3865bcfebff_0_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401866" y="700859"/>
            <a:ext cx="1138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</a:rPr>
              <a:t>PROPUESTA DE INVESTIGACIÓN </a:t>
            </a:r>
            <a:endParaRPr sz="2000"/>
          </a:p>
        </p:txBody>
      </p:sp>
      <p:sp>
        <p:nvSpPr>
          <p:cNvPr id="55" name="Google Shape;55;p1"/>
          <p:cNvSpPr txBox="1"/>
          <p:nvPr/>
        </p:nvSpPr>
        <p:spPr>
          <a:xfrm>
            <a:off x="710402" y="1330894"/>
            <a:ext cx="107712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387F84"/>
                </a:solidFill>
              </a:rPr>
              <a:t> Predicción y análisis de asistencia de estudiantes en un proyecto educativo mediante técnicas de Machine Learning.</a:t>
            </a:r>
            <a:endParaRPr sz="1200">
              <a:solidFill>
                <a:srgbClr val="387F84"/>
              </a:solidFill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1643267" y="2785747"/>
            <a:ext cx="869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25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Presenta Juan david Ramirez García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797717" y="3564787"/>
            <a:ext cx="10596600" cy="16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0000"/>
                </a:solidFill>
              </a:rPr>
              <a:t>Estudiante de </a:t>
            </a:r>
            <a:r>
              <a:rPr lang="en-US" sz="2000"/>
              <a:t>Ingeniería de software y datos</a:t>
            </a:r>
            <a:endParaRPr i="0" sz="2000" u="none" cap="none" strike="noStrike">
              <a:solidFill>
                <a:srgbClr val="000000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0000"/>
                </a:solidFill>
              </a:rPr>
              <a:t>Institución Universitaria Digital de Antioquia</a:t>
            </a:r>
            <a:endParaRPr/>
          </a:p>
          <a:p>
            <a:pPr indent="0" lvl="0" marL="0" marR="0" rtl="0" algn="ctr">
              <a:lnSpc>
                <a:spcPct val="2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0000"/>
                </a:solidFill>
              </a:rPr>
              <a:t>Medellín, Colombia</a:t>
            </a:r>
            <a:endParaRPr/>
          </a:p>
        </p:txBody>
      </p:sp>
      <p:sp>
        <p:nvSpPr>
          <p:cNvPr id="58" name="Google Shape;58;p1"/>
          <p:cNvSpPr txBox="1"/>
          <p:nvPr/>
        </p:nvSpPr>
        <p:spPr>
          <a:xfrm>
            <a:off x="6418294" y="5248646"/>
            <a:ext cx="432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37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0000"/>
                </a:solidFill>
              </a:rPr>
              <a:t>Fecha: </a:t>
            </a:r>
            <a:endParaRPr/>
          </a:p>
        </p:txBody>
      </p:sp>
      <p:pic>
        <p:nvPicPr>
          <p:cNvPr descr="Imagen que contiene Texto&#10;&#10;Descripción generada automáticamente" id="59" name="Google Shape;5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937125"/>
            <a:ext cx="4627000" cy="92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657b100b7_0_1"/>
          <p:cNvSpPr txBox="1"/>
          <p:nvPr/>
        </p:nvSpPr>
        <p:spPr>
          <a:xfrm>
            <a:off x="2461300" y="498475"/>
            <a:ext cx="768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INTRODUCCIÓN Y CONTEXTO</a:t>
            </a:r>
            <a:endParaRPr sz="3000"/>
          </a:p>
        </p:txBody>
      </p:sp>
      <p:sp>
        <p:nvSpPr>
          <p:cNvPr id="65" name="Google Shape;65;g38657b100b7_0_1"/>
          <p:cNvSpPr txBox="1"/>
          <p:nvPr/>
        </p:nvSpPr>
        <p:spPr>
          <a:xfrm>
            <a:off x="260725" y="1982850"/>
            <a:ext cx="61710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87F84"/>
                </a:solidFill>
              </a:rPr>
              <a:t>El Proyecto Original:</a:t>
            </a:r>
            <a:r>
              <a:rPr lang="en-US" sz="2000">
                <a:solidFill>
                  <a:schemeClr val="dk1"/>
                </a:solidFill>
              </a:rPr>
              <a:t> Se realizaron talleres experienciales (software, modelado, nuevas tecnologías) en tres colegios de Medellín.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87F84"/>
                </a:solidFill>
              </a:rPr>
              <a:t>Población:</a:t>
            </a:r>
            <a:r>
              <a:rPr lang="en-US" sz="2000">
                <a:solidFill>
                  <a:schemeClr val="dk1"/>
                </a:solidFill>
              </a:rPr>
              <a:t> Estudiantes de grados 6° a 11°.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87F84"/>
                </a:solidFill>
              </a:rPr>
              <a:t>El Reto</a:t>
            </a:r>
            <a:r>
              <a:rPr b="1" lang="en-US" sz="2000">
                <a:solidFill>
                  <a:schemeClr val="dk1"/>
                </a:solidFill>
              </a:rPr>
              <a:t>:</a:t>
            </a:r>
            <a:r>
              <a:rPr lang="en-US" sz="2000">
                <a:solidFill>
                  <a:schemeClr val="dk1"/>
                </a:solidFill>
              </a:rPr>
              <a:t> llegar a la mayor cantidad de estudiantes.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87F8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87F84"/>
                </a:solidFill>
              </a:rPr>
              <a:t>La Necesidad:</a:t>
            </a:r>
            <a:r>
              <a:rPr lang="en-US" sz="2000">
                <a:solidFill>
                  <a:schemeClr val="dk1"/>
                </a:solidFill>
              </a:rPr>
              <a:t> Predecir la asistencia se volvió un punto clave para el éxito del programa.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66" name="Google Shape;66;g38657b100b7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9775" y="1795850"/>
            <a:ext cx="3749275" cy="28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/>
        </p:nvSpPr>
        <p:spPr>
          <a:xfrm>
            <a:off x="442962" y="133822"/>
            <a:ext cx="114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PLANTEAMIENTO DEL PROBLEMA</a:t>
            </a:r>
            <a:endParaRPr sz="1200"/>
          </a:p>
        </p:txBody>
      </p:sp>
      <p:sp>
        <p:nvSpPr>
          <p:cNvPr id="72" name="Google Shape;72;p2"/>
          <p:cNvSpPr txBox="1"/>
          <p:nvPr/>
        </p:nvSpPr>
        <p:spPr>
          <a:xfrm>
            <a:off x="690775" y="1486363"/>
            <a:ext cx="5603100" cy="22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87F84"/>
                </a:solidFill>
              </a:rPr>
              <a:t>¿Por qué la asistencia es clave?</a:t>
            </a:r>
            <a:endParaRPr b="1" sz="2000">
              <a:solidFill>
                <a:srgbClr val="387F8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Evidencia el impacto del proyecto en la comunidad educativa y es importante para el aprendizaje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4545875" y="4186650"/>
            <a:ext cx="70527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87F84"/>
                </a:solidFill>
              </a:rPr>
              <a:t>¿Cuál es la </a:t>
            </a:r>
            <a:r>
              <a:rPr b="1" lang="en-US" sz="2000">
                <a:solidFill>
                  <a:srgbClr val="387F84"/>
                </a:solidFill>
              </a:rPr>
              <a:t>problemática</a:t>
            </a:r>
            <a:r>
              <a:rPr b="1" lang="en-US" sz="2000">
                <a:solidFill>
                  <a:srgbClr val="387F84"/>
                </a:solidFill>
              </a:rPr>
              <a:t>?</a:t>
            </a:r>
            <a:endParaRPr b="1" sz="2000">
              <a:solidFill>
                <a:srgbClr val="387F8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El proyecto educativo no cuenta con la o las herramientas para analizar o predecir la asistencia de forma preventiva.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442950" y="4594500"/>
            <a:ext cx="68220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6100" y="1161625"/>
            <a:ext cx="4335300" cy="245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3280" y="3421400"/>
            <a:ext cx="3025250" cy="302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657b100b7_0_18"/>
          <p:cNvSpPr txBox="1"/>
          <p:nvPr/>
        </p:nvSpPr>
        <p:spPr>
          <a:xfrm>
            <a:off x="446875" y="1784075"/>
            <a:ext cx="60192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87F84"/>
                </a:solidFill>
              </a:rPr>
              <a:t>Situación </a:t>
            </a:r>
            <a:r>
              <a:rPr b="1" lang="en-US" sz="2000">
                <a:solidFill>
                  <a:srgbClr val="387F84"/>
                </a:solidFill>
              </a:rPr>
              <a:t>actual</a:t>
            </a:r>
            <a:endParaRPr b="1" sz="2000">
              <a:solidFill>
                <a:srgbClr val="387F84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no se cuenta con un plan definido para asegurar la</a:t>
            </a:r>
            <a:r>
              <a:rPr lang="en-US" sz="2000">
                <a:solidFill>
                  <a:schemeClr val="dk1"/>
                </a:solidFill>
              </a:rPr>
              <a:t> continuidad estudiantil.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 aprovechamiento de recursos (Refrigerios materiales)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Menor estudiantes de lo esperado.</a:t>
            </a:r>
            <a:endParaRPr/>
          </a:p>
        </p:txBody>
      </p:sp>
      <p:sp>
        <p:nvSpPr>
          <p:cNvPr id="82" name="Google Shape;82;g38657b100b7_0_18"/>
          <p:cNvSpPr txBox="1"/>
          <p:nvPr/>
        </p:nvSpPr>
        <p:spPr>
          <a:xfrm>
            <a:off x="2904775" y="567200"/>
            <a:ext cx="619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PLANTEAMIENTO DEL PROBLEMA</a:t>
            </a:r>
            <a:endParaRPr/>
          </a:p>
        </p:txBody>
      </p:sp>
      <p:sp>
        <p:nvSpPr>
          <p:cNvPr id="83" name="Google Shape;83;g38657b100b7_0_18"/>
          <p:cNvSpPr txBox="1"/>
          <p:nvPr/>
        </p:nvSpPr>
        <p:spPr>
          <a:xfrm>
            <a:off x="6170450" y="4492650"/>
            <a:ext cx="5108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87F84"/>
                </a:solidFill>
              </a:rPr>
              <a:t>¿Qué solución se propone?</a:t>
            </a:r>
            <a:endParaRPr b="1" sz="2000">
              <a:solidFill>
                <a:srgbClr val="387F8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Implementar análisis de datos y Machine Learning para identificar patrones de riesgo</a:t>
            </a:r>
            <a:endParaRPr sz="2300"/>
          </a:p>
        </p:txBody>
      </p:sp>
      <p:pic>
        <p:nvPicPr>
          <p:cNvPr id="84" name="Google Shape;84;g38657b100b7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9543" y="1652800"/>
            <a:ext cx="3291657" cy="21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g38657b100b7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9625" y="4062950"/>
            <a:ext cx="3958950" cy="238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 txBox="1"/>
          <p:nvPr/>
        </p:nvSpPr>
        <p:spPr>
          <a:xfrm>
            <a:off x="2267102" y="553525"/>
            <a:ext cx="842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lang="en-US" sz="3000">
                <a:latin typeface="Calibri"/>
                <a:ea typeface="Calibri"/>
                <a:cs typeface="Calibri"/>
                <a:sym typeface="Calibri"/>
              </a:rPr>
              <a:t>             PREGUNTA DE INVESTIGACIÓN</a:t>
            </a:r>
            <a:endParaRPr sz="1200"/>
          </a:p>
        </p:txBody>
      </p:sp>
      <p:sp>
        <p:nvSpPr>
          <p:cNvPr id="91" name="Google Shape;91;p3"/>
          <p:cNvSpPr txBox="1"/>
          <p:nvPr/>
        </p:nvSpPr>
        <p:spPr>
          <a:xfrm>
            <a:off x="2011950" y="1725925"/>
            <a:ext cx="89376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87F84"/>
                </a:solidFill>
              </a:rPr>
              <a:t>¿La aplicación de modelos de machine learning a este proyecto educativo son una buena herramientas para encontrar patrones de asistencia?</a:t>
            </a:r>
            <a:endParaRPr b="1" sz="2000">
              <a:solidFill>
                <a:srgbClr val="387F84"/>
              </a:solidFill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1082850" y="3437600"/>
            <a:ext cx="83568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87F84"/>
                </a:solidFill>
              </a:rPr>
              <a:t>Otras preguntas que surge: </a:t>
            </a:r>
            <a:endParaRPr b="1" sz="2000">
              <a:solidFill>
                <a:srgbClr val="387F8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¿Cómo influyen las variables demográficas y educativas en el comportamiento de la asistencia?.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¿Se puede diseñar una guía metodológica para replicar estos modelos en otros proyectos?.</a:t>
            </a:r>
            <a:endParaRPr sz="2000"/>
          </a:p>
        </p:txBody>
      </p:sp>
      <p:pic>
        <p:nvPicPr>
          <p:cNvPr id="93" name="Google Shape;9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70150" y="2892450"/>
            <a:ext cx="2577050" cy="25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 txBox="1"/>
          <p:nvPr/>
        </p:nvSpPr>
        <p:spPr>
          <a:xfrm>
            <a:off x="0" y="141008"/>
            <a:ext cx="1219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</a:rPr>
              <a:t>OBJETIVOS</a:t>
            </a:r>
            <a:endParaRPr sz="1200"/>
          </a:p>
        </p:txBody>
      </p:sp>
      <p:sp>
        <p:nvSpPr>
          <p:cNvPr id="99" name="Google Shape;99;p4"/>
          <p:cNvSpPr txBox="1"/>
          <p:nvPr/>
        </p:nvSpPr>
        <p:spPr>
          <a:xfrm>
            <a:off x="1873775" y="1392225"/>
            <a:ext cx="9267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87F84"/>
                </a:solidFill>
              </a:rPr>
              <a:t>General: </a:t>
            </a:r>
            <a:endParaRPr b="1" sz="2000">
              <a:solidFill>
                <a:srgbClr val="387F8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Aplicar modelos de Machine Learning (ML) para predecir y encontrar patrones de asistencia estudiantil.</a:t>
            </a:r>
            <a:endParaRPr sz="2000"/>
          </a:p>
        </p:txBody>
      </p:sp>
      <p:sp>
        <p:nvSpPr>
          <p:cNvPr id="100" name="Google Shape;100;p4"/>
          <p:cNvSpPr txBox="1"/>
          <p:nvPr/>
        </p:nvSpPr>
        <p:spPr>
          <a:xfrm>
            <a:off x="4159475" y="3257950"/>
            <a:ext cx="69819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87F84"/>
                </a:solidFill>
              </a:rPr>
              <a:t>Específicos:</a:t>
            </a:r>
            <a:endParaRPr b="1" sz="2000">
              <a:solidFill>
                <a:srgbClr val="387F84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Analizar el comportamiento de la asistencia según variables demográficas, sociales y educativas.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Diseñar y documentar una guía metodológica para la replicabilidad del modelo.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01" name="Google Shape;10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7238" y="3217638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/>
        </p:nvSpPr>
        <p:spPr>
          <a:xfrm>
            <a:off x="-1" y="298756"/>
            <a:ext cx="121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Calibri"/>
                <a:ea typeface="Calibri"/>
                <a:cs typeface="Calibri"/>
                <a:sym typeface="Calibri"/>
              </a:rPr>
              <a:t>REFERENTE</a:t>
            </a:r>
            <a:r>
              <a:rPr b="1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TEÓRICO</a:t>
            </a:r>
            <a:endParaRPr/>
          </a:p>
        </p:txBody>
      </p:sp>
      <p:sp>
        <p:nvSpPr>
          <p:cNvPr id="107" name="Google Shape;107;p5"/>
          <p:cNvSpPr txBox="1"/>
          <p:nvPr/>
        </p:nvSpPr>
        <p:spPr>
          <a:xfrm>
            <a:off x="756250" y="1154863"/>
            <a:ext cx="550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87F84"/>
                </a:solidFill>
              </a:rPr>
              <a:t>Enfoque:</a:t>
            </a:r>
            <a:r>
              <a:rPr lang="en-US" sz="2000">
                <a:solidFill>
                  <a:schemeClr val="dk1"/>
                </a:solidFill>
              </a:rPr>
              <a:t> Uso de ML en contextos educativos.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756250" y="1907850"/>
            <a:ext cx="65865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87F84"/>
                </a:solidFill>
              </a:rPr>
              <a:t>Nacional (Colombia):</a:t>
            </a:r>
            <a:endParaRPr b="1" sz="2000">
              <a:solidFill>
                <a:srgbClr val="387F84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U. Remington: Se usó ML para predecir la deserción escolar.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U. de Córdoba: Se implementó un modelo de ML para generar recomendaciones ante la inasistencia.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4677375" y="4230725"/>
            <a:ext cx="72396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87F84"/>
                </a:solidFill>
              </a:rPr>
              <a:t>Internacional:</a:t>
            </a:r>
            <a:endParaRPr b="1" sz="2000">
              <a:solidFill>
                <a:srgbClr val="387F84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EE.UU.:</a:t>
            </a:r>
            <a:r>
              <a:rPr lang="en-US" sz="2000">
                <a:solidFill>
                  <a:schemeClr val="dk1"/>
                </a:solidFill>
              </a:rPr>
              <a:t> Se usó Deep Learning para predecir la asistencia de estudiantes con autismo.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Albania:</a:t>
            </a:r>
            <a:r>
              <a:rPr lang="en-US" sz="2000">
                <a:solidFill>
                  <a:schemeClr val="dk1"/>
                </a:solidFill>
              </a:rPr>
              <a:t> Se usó ML para predecir asistencia usando variables demográficas y sociales.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10" name="Google Shape;110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1725" y="1647463"/>
            <a:ext cx="2952357" cy="2211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0850" y="4253095"/>
            <a:ext cx="2952350" cy="1964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/>
        </p:nvSpPr>
        <p:spPr>
          <a:xfrm>
            <a:off x="-1" y="178431"/>
            <a:ext cx="1219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sz="1200"/>
          </a:p>
        </p:txBody>
      </p:sp>
      <p:cxnSp>
        <p:nvCxnSpPr>
          <p:cNvPr id="117" name="Google Shape;117;p6"/>
          <p:cNvCxnSpPr/>
          <p:nvPr/>
        </p:nvCxnSpPr>
        <p:spPr>
          <a:xfrm flipH="1" rot="10800000">
            <a:off x="784950" y="3754050"/>
            <a:ext cx="10622100" cy="51600"/>
          </a:xfrm>
          <a:prstGeom prst="straightConnector1">
            <a:avLst/>
          </a:prstGeom>
          <a:noFill/>
          <a:ln cap="flat" cmpd="sng" w="114300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8" name="Google Shape;118;p6"/>
          <p:cNvSpPr txBox="1"/>
          <p:nvPr/>
        </p:nvSpPr>
        <p:spPr>
          <a:xfrm>
            <a:off x="600475" y="1536875"/>
            <a:ext cx="2295000" cy="15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Definición: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cuantitativa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no experimental y </a:t>
            </a:r>
            <a:r>
              <a:rPr lang="en-US">
                <a:solidFill>
                  <a:schemeClr val="dk1"/>
                </a:solidFill>
              </a:rPr>
              <a:t>observacional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longitudinal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600475" y="4282225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2.   Población y muestra: </a:t>
            </a:r>
            <a:r>
              <a:rPr b="1" lang="en-US">
                <a:solidFill>
                  <a:schemeClr val="dk1"/>
                </a:solidFill>
              </a:rPr>
              <a:t>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población: total estudiantes de 6 a 11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Estudiantes que participaron en al menos un taller</a:t>
            </a:r>
            <a:endParaRPr/>
          </a:p>
        </p:txBody>
      </p:sp>
      <p:sp>
        <p:nvSpPr>
          <p:cNvPr id="120" name="Google Shape;120;p6"/>
          <p:cNvSpPr txBox="1"/>
          <p:nvPr/>
        </p:nvSpPr>
        <p:spPr>
          <a:xfrm>
            <a:off x="2971225" y="1554425"/>
            <a:ext cx="2601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3.  </a:t>
            </a:r>
            <a:r>
              <a:rPr b="1" lang="en-US">
                <a:solidFill>
                  <a:schemeClr val="dk1"/>
                </a:solidFill>
              </a:rPr>
              <a:t> Recolección y limpieza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datos recolectados (4 asistencias)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proceso de limpieza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calculo nuevas variables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3690825" y="4282225"/>
            <a:ext cx="4339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4. Análisis exploratorio de datos (EDA):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identificar relacionamiento entre los datos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valores atípicos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patrones y asistencias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generar preguntas e hipótesis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5647975" y="1506875"/>
            <a:ext cx="2691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5.</a:t>
            </a:r>
            <a:r>
              <a:rPr b="1" lang="en-US">
                <a:solidFill>
                  <a:schemeClr val="dk1"/>
                </a:solidFill>
              </a:rPr>
              <a:t>   Aplicación ML: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datos limpios y variables relevantes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regresión logística, árbol de decisión y random forest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predecir futuras asistencias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7755325" y="4342225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6. </a:t>
            </a:r>
            <a:r>
              <a:rPr b="1" lang="en-US">
                <a:solidFill>
                  <a:schemeClr val="dk1"/>
                </a:solidFill>
              </a:rPr>
              <a:t> Evaluación de los modelos: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efectividad y precisión de los modelos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precision, recall y F1 - score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8647975" y="1536875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7. Diseño guía para replicar</a:t>
            </a:r>
            <a:r>
              <a:rPr b="1" lang="en-US">
                <a:solidFill>
                  <a:schemeClr val="dk1"/>
                </a:solidFill>
              </a:rPr>
              <a:t>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elaborar procedimiento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documentar analisis y tecnicas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mostrar resultados de forma clara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¿Es replicable?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/>
        </p:nvSpPr>
        <p:spPr>
          <a:xfrm>
            <a:off x="-1" y="178431"/>
            <a:ext cx="1219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alibri"/>
                <a:ea typeface="Calibri"/>
                <a:cs typeface="Calibri"/>
                <a:sym typeface="Calibri"/>
              </a:rPr>
              <a:t>GOBERNANZA</a:t>
            </a:r>
            <a:r>
              <a:rPr b="1" lang="en-US" sz="3000">
                <a:latin typeface="Calibri"/>
                <a:ea typeface="Calibri"/>
                <a:cs typeface="Calibri"/>
                <a:sym typeface="Calibri"/>
              </a:rPr>
              <a:t> DE DATOS</a:t>
            </a:r>
            <a:endParaRPr sz="1200"/>
          </a:p>
        </p:txBody>
      </p:sp>
      <p:sp>
        <p:nvSpPr>
          <p:cNvPr id="130" name="Google Shape;130;p7"/>
          <p:cNvSpPr txBox="1"/>
          <p:nvPr/>
        </p:nvSpPr>
        <p:spPr>
          <a:xfrm>
            <a:off x="1242575" y="1326575"/>
            <a:ext cx="35271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87F84"/>
              </a:buClr>
              <a:buSzPts val="1800"/>
              <a:buAutoNum type="arabicPeriod"/>
            </a:pPr>
            <a:r>
              <a:rPr b="1" lang="en-US" sz="1800">
                <a:solidFill>
                  <a:srgbClr val="387F84"/>
                </a:solidFill>
              </a:rPr>
              <a:t>Recolección de datos</a:t>
            </a:r>
            <a:endParaRPr b="1" sz="1800">
              <a:solidFill>
                <a:srgbClr val="387F8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asistencias estudiantes en 3 I.E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Género, grado, fecha de nacimiento, fecha de sesión y estado de asistencia (Sí/No)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31" name="Google Shape;131;p7"/>
          <p:cNvSpPr txBox="1"/>
          <p:nvPr/>
        </p:nvSpPr>
        <p:spPr>
          <a:xfrm>
            <a:off x="7810425" y="1326563"/>
            <a:ext cx="3072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87F84"/>
                </a:solidFill>
              </a:rPr>
              <a:t>2. Limpieza y calidad de datos</a:t>
            </a:r>
            <a:endParaRPr b="1" sz="1800">
              <a:solidFill>
                <a:srgbClr val="387F8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asegurar fiabilidad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depuración de inconsistencias, duplicados y nulos</a:t>
            </a:r>
            <a:endParaRPr sz="1800"/>
          </a:p>
        </p:txBody>
      </p:sp>
      <p:sp>
        <p:nvSpPr>
          <p:cNvPr id="132" name="Google Shape;132;p7"/>
          <p:cNvSpPr txBox="1"/>
          <p:nvPr/>
        </p:nvSpPr>
        <p:spPr>
          <a:xfrm>
            <a:off x="1410875" y="4275625"/>
            <a:ext cx="2843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387F84"/>
                </a:solidFill>
              </a:rPr>
              <a:t>3.</a:t>
            </a:r>
            <a:r>
              <a:rPr b="1" lang="en-US" sz="1800">
                <a:solidFill>
                  <a:srgbClr val="387F84"/>
                </a:solidFill>
              </a:rPr>
              <a:t> Ingeniería de datos</a:t>
            </a:r>
            <a:endParaRPr b="1" sz="1800">
              <a:solidFill>
                <a:srgbClr val="387F8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transformación datos útiles para los modelos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calcular nuevas variables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8016675" y="4137025"/>
            <a:ext cx="33000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87F84"/>
                </a:solidFill>
              </a:rPr>
              <a:t>4. </a:t>
            </a:r>
            <a:r>
              <a:rPr b="1" lang="en-US" sz="1800">
                <a:solidFill>
                  <a:srgbClr val="387F84"/>
                </a:solidFill>
              </a:rPr>
              <a:t>Análisis</a:t>
            </a:r>
            <a:r>
              <a:rPr b="1" lang="en-US" sz="1800">
                <a:solidFill>
                  <a:srgbClr val="387F84"/>
                </a:solidFill>
              </a:rPr>
              <a:t> exploratorio de datos</a:t>
            </a:r>
            <a:endParaRPr b="1" sz="1800">
              <a:solidFill>
                <a:srgbClr val="387F8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exploración de datos antes de modelar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identificación de patrones, valores </a:t>
            </a:r>
            <a:r>
              <a:rPr lang="en-US" sz="1800">
                <a:solidFill>
                  <a:schemeClr val="dk1"/>
                </a:solidFill>
              </a:rPr>
              <a:t>atípicos y generación de insights</a:t>
            </a:r>
            <a:r>
              <a:rPr lang="en-US" sz="1800">
                <a:solidFill>
                  <a:schemeClr val="dk1"/>
                </a:solidFill>
              </a:rPr>
              <a:t> </a:t>
            </a:r>
            <a:endParaRPr/>
          </a:p>
        </p:txBody>
      </p:sp>
      <p:pic>
        <p:nvPicPr>
          <p:cNvPr id="134" name="Google Shape;13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4676" y="2628424"/>
            <a:ext cx="2652358" cy="21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/>
        </p:nvSpPr>
        <p:spPr>
          <a:xfrm>
            <a:off x="-1" y="192506"/>
            <a:ext cx="121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RESULTADOS </a:t>
            </a:r>
            <a:r>
              <a:rPr b="1" lang="en-US" sz="3200">
                <a:latin typeface="Calibri"/>
                <a:ea typeface="Calibri"/>
                <a:cs typeface="Calibri"/>
                <a:sym typeface="Calibri"/>
              </a:rPr>
              <a:t>DEL DESEMPEÑO DE LOS MODELOS</a:t>
            </a:r>
            <a:endParaRPr/>
          </a:p>
        </p:txBody>
      </p:sp>
      <p:sp>
        <p:nvSpPr>
          <p:cNvPr id="140" name="Google Shape;140;p8"/>
          <p:cNvSpPr txBox="1"/>
          <p:nvPr/>
        </p:nvSpPr>
        <p:spPr>
          <a:xfrm>
            <a:off x="-3282875" y="495300"/>
            <a:ext cx="270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graphicFrame>
        <p:nvGraphicFramePr>
          <p:cNvPr id="141" name="Google Shape;141;p8"/>
          <p:cNvGraphicFramePr/>
          <p:nvPr/>
        </p:nvGraphicFramePr>
        <p:xfrm>
          <a:off x="3834325" y="10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{B2B90FA5-7CD3-40C3-97F0-4426E6201B33}</a:tableStyleId>
              </a:tblPr>
              <a:tblGrid>
                <a:gridCol w="1235875"/>
                <a:gridCol w="2439050"/>
                <a:gridCol w="1137800"/>
                <a:gridCol w="1360100"/>
                <a:gridCol w="1392800"/>
              </a:tblGrid>
              <a:tr h="622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387F84"/>
                          </a:solidFill>
                        </a:rPr>
                        <a:t>Métrica</a:t>
                      </a:r>
                      <a:endParaRPr b="1" sz="1500">
                        <a:solidFill>
                          <a:srgbClr val="387F84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387F84"/>
                          </a:solidFill>
                        </a:rPr>
                        <a:t>Explicación (Clave)</a:t>
                      </a:r>
                      <a:endParaRPr b="1" sz="1500">
                        <a:solidFill>
                          <a:srgbClr val="387F84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387F84"/>
                          </a:solidFill>
                        </a:rPr>
                        <a:t>Árbol de Decisión</a:t>
                      </a:r>
                      <a:endParaRPr b="1" sz="1500">
                        <a:solidFill>
                          <a:srgbClr val="387F84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387F84"/>
                          </a:solidFill>
                        </a:rPr>
                        <a:t>Random Forest</a:t>
                      </a:r>
                      <a:endParaRPr b="1" sz="1500">
                        <a:solidFill>
                          <a:srgbClr val="387F84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387F84"/>
                          </a:solidFill>
                        </a:rPr>
                        <a:t>Regresión Logística</a:t>
                      </a:r>
                      <a:endParaRPr b="1" sz="1500">
                        <a:solidFill>
                          <a:srgbClr val="387F84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87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87F84"/>
                          </a:solidFill>
                        </a:rPr>
                        <a:t>Exactitud (Accuracy)</a:t>
                      </a:r>
                      <a:endParaRPr b="1">
                        <a:solidFill>
                          <a:srgbClr val="387F84"/>
                        </a:solidFill>
                      </a:endParaRPr>
                    </a:p>
                  </a:txBody>
                  <a:tcPr marT="76200" marB="76200" marR="114300" marL="114300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</a:rPr>
                        <a:t>Porcentaje total de aciertos (buenos y malos).</a:t>
                      </a:r>
                      <a:endParaRPr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chemeClr val="dk1"/>
                          </a:solidFill>
                        </a:rPr>
                        <a:t>0.77</a:t>
                      </a:r>
                      <a:endParaRPr b="1" sz="19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chemeClr val="dk1"/>
                          </a:solidFill>
                        </a:rPr>
                        <a:t>0.77</a:t>
                      </a:r>
                      <a:endParaRPr b="1" sz="19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0B050"/>
                          </a:solidFill>
                        </a:rPr>
                        <a:t>0.797</a:t>
                      </a:r>
                      <a:endParaRPr b="1" sz="1900">
                        <a:solidFill>
                          <a:srgbClr val="00B050"/>
                        </a:solidFill>
                      </a:endParaRPr>
                    </a:p>
                  </a:txBody>
                  <a:tcPr marT="76200" marB="76200" marR="114300" marL="114300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87F84"/>
                          </a:solidFill>
                        </a:rPr>
                        <a:t>Precisión (SÍ Asiste)</a:t>
                      </a:r>
                      <a:endParaRPr b="1">
                        <a:solidFill>
                          <a:srgbClr val="387F84"/>
                        </a:solidFill>
                      </a:endParaRPr>
                    </a:p>
                  </a:txBody>
                  <a:tcPr marT="76200" marB="76200" marR="114300" marL="114300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</a:rPr>
                        <a:t>¿cuántos acertó?</a:t>
                      </a:r>
                      <a:endParaRPr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0B050"/>
                          </a:solidFill>
                        </a:rPr>
                        <a:t>0.91</a:t>
                      </a:r>
                      <a:endParaRPr b="1" sz="1900">
                        <a:solidFill>
                          <a:srgbClr val="00B050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0B050"/>
                          </a:solidFill>
                        </a:rPr>
                        <a:t>0.91</a:t>
                      </a:r>
                      <a:endParaRPr b="1" sz="1900">
                        <a:solidFill>
                          <a:srgbClr val="00B050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chemeClr val="dk1"/>
                          </a:solidFill>
                        </a:rPr>
                        <a:t>0.89</a:t>
                      </a:r>
                      <a:endParaRPr b="1" sz="19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87F84"/>
                          </a:solidFill>
                        </a:rPr>
                        <a:t>Recall (SÍ Asiste)</a:t>
                      </a:r>
                      <a:endParaRPr b="1">
                        <a:solidFill>
                          <a:srgbClr val="387F84"/>
                        </a:solidFill>
                      </a:endParaRPr>
                    </a:p>
                  </a:txBody>
                  <a:tcPr marT="76200" marB="76200" marR="114300" marL="114300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</a:rPr>
                        <a:t>¿a cuántos encontró?</a:t>
                      </a:r>
                      <a:endParaRPr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chemeClr val="dk1"/>
                          </a:solidFill>
                        </a:rPr>
                        <a:t>0.80</a:t>
                      </a:r>
                      <a:endParaRPr b="1" sz="19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chemeClr val="dk1"/>
                          </a:solidFill>
                        </a:rPr>
                        <a:t>0.80</a:t>
                      </a:r>
                      <a:endParaRPr b="1" sz="19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0B050"/>
                          </a:solidFill>
                        </a:rPr>
                        <a:t>0.85</a:t>
                      </a:r>
                      <a:endParaRPr b="1" sz="1900">
                        <a:solidFill>
                          <a:srgbClr val="00B050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87F84"/>
                          </a:solidFill>
                        </a:rPr>
                        <a:t>F1-Score (SÍ Asiste)</a:t>
                      </a:r>
                      <a:endParaRPr b="1">
                        <a:solidFill>
                          <a:srgbClr val="387F84"/>
                        </a:solidFill>
                      </a:endParaRPr>
                    </a:p>
                  </a:txBody>
                  <a:tcPr marT="76200" marB="76200" marR="114300" marL="114300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</a:rPr>
                        <a:t>Balance entre Precisión y Recall </a:t>
                      </a:r>
                      <a:endParaRPr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chemeClr val="dk1"/>
                          </a:solidFill>
                        </a:rPr>
                        <a:t>0.85</a:t>
                      </a:r>
                      <a:endParaRPr b="1" sz="19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chemeClr val="dk1"/>
                          </a:solidFill>
                        </a:rPr>
                        <a:t>0.85</a:t>
                      </a:r>
                      <a:endParaRPr b="1" sz="19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0B050"/>
                          </a:solidFill>
                        </a:rPr>
                        <a:t>0.87</a:t>
                      </a:r>
                      <a:endParaRPr b="1" sz="1900">
                        <a:solidFill>
                          <a:srgbClr val="00B050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87F84"/>
                          </a:solidFill>
                        </a:rPr>
                        <a:t>Precisión (NO Asiste)</a:t>
                      </a:r>
                      <a:endParaRPr b="1">
                        <a:solidFill>
                          <a:srgbClr val="387F84"/>
                        </a:solidFill>
                      </a:endParaRPr>
                    </a:p>
                  </a:txBody>
                  <a:tcPr marT="76200" marB="76200" marR="114300" marL="114300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</a:rPr>
                        <a:t>¿cuántos acertó?</a:t>
                      </a:r>
                      <a:endParaRPr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CC0000"/>
                          </a:solidFill>
                        </a:rPr>
                        <a:t>0.43</a:t>
                      </a:r>
                      <a:endParaRPr b="1" sz="1900">
                        <a:solidFill>
                          <a:srgbClr val="CC0000"/>
                        </a:solidFill>
                      </a:endParaRPr>
                    </a:p>
                  </a:txBody>
                  <a:tcPr marT="76200" marB="76200" marR="114300" marL="114300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CC0000"/>
                          </a:solidFill>
                        </a:rPr>
                        <a:t>0.43</a:t>
                      </a:r>
                      <a:endParaRPr b="1" sz="1900">
                        <a:solidFill>
                          <a:srgbClr val="CC0000"/>
                        </a:solidFill>
                      </a:endParaRPr>
                    </a:p>
                  </a:txBody>
                  <a:tcPr marT="76200" marB="76200" marR="114300" marL="114300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chemeClr val="dk1"/>
                          </a:solidFill>
                        </a:rPr>
                        <a:t>0.47</a:t>
                      </a:r>
                      <a:endParaRPr b="1" sz="19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87F84"/>
                          </a:solidFill>
                        </a:rPr>
                        <a:t>Recall (NO Asiste)</a:t>
                      </a:r>
                      <a:endParaRPr b="1">
                        <a:solidFill>
                          <a:srgbClr val="387F84"/>
                        </a:solidFill>
                      </a:endParaRPr>
                    </a:p>
                  </a:txBody>
                  <a:tcPr marT="76200" marB="76200" marR="114300" marL="114300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</a:rPr>
                        <a:t>¿a cuántos encontró?</a:t>
                      </a:r>
                      <a:endParaRPr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chemeClr val="dk1"/>
                          </a:solidFill>
                        </a:rPr>
                        <a:t>0.66</a:t>
                      </a:r>
                      <a:endParaRPr b="1" sz="19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chemeClr val="dk1"/>
                          </a:solidFill>
                        </a:rPr>
                        <a:t>0.66</a:t>
                      </a:r>
                      <a:endParaRPr b="1" sz="19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CC0000"/>
                          </a:solidFill>
                        </a:rPr>
                        <a:t>0.56</a:t>
                      </a:r>
                      <a:endParaRPr b="1" sz="1900">
                        <a:solidFill>
                          <a:srgbClr val="CC0000"/>
                        </a:solidFill>
                      </a:endParaRPr>
                    </a:p>
                  </a:txBody>
                  <a:tcPr marT="76200" marB="76200" marR="114300" marL="114300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87F84"/>
                          </a:solidFill>
                        </a:rPr>
                        <a:t>F1-Score (NO Asiste)</a:t>
                      </a:r>
                      <a:endParaRPr b="1">
                        <a:solidFill>
                          <a:srgbClr val="387F84"/>
                        </a:solidFill>
                      </a:endParaRPr>
                    </a:p>
                  </a:txBody>
                  <a:tcPr marT="76200" marB="76200" marR="114300" marL="114300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</a:rPr>
                        <a:t>Balance entre Precisión y Recall para .</a:t>
                      </a:r>
                      <a:endParaRPr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chemeClr val="dk1"/>
                          </a:solidFill>
                        </a:rPr>
                        <a:t>0.52</a:t>
                      </a:r>
                      <a:endParaRPr b="1" sz="19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chemeClr val="dk1"/>
                          </a:solidFill>
                        </a:rPr>
                        <a:t>0.52</a:t>
                      </a:r>
                      <a:endParaRPr b="1" sz="19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CC0000"/>
                          </a:solidFill>
                        </a:rPr>
                        <a:t>0.51</a:t>
                      </a:r>
                      <a:endParaRPr b="1" sz="1900">
                        <a:solidFill>
                          <a:srgbClr val="CC0000"/>
                        </a:solidFill>
                      </a:endParaRPr>
                    </a:p>
                  </a:txBody>
                  <a:tcPr marT="76200" marB="76200" marR="114300" marL="114300">
                    <a:lnL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" name="Google Shape;142;p8"/>
          <p:cNvSpPr txBox="1"/>
          <p:nvPr/>
        </p:nvSpPr>
        <p:spPr>
          <a:xfrm>
            <a:off x="659438" y="152740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87F84"/>
                </a:solidFill>
              </a:rPr>
              <a:t>Participación General:</a:t>
            </a:r>
            <a:r>
              <a:rPr lang="en-US" sz="2000">
                <a:solidFill>
                  <a:schemeClr val="dk1"/>
                </a:solidFill>
              </a:rPr>
              <a:t> </a:t>
            </a:r>
            <a:r>
              <a:rPr b="1" lang="en-US" sz="2000">
                <a:solidFill>
                  <a:schemeClr val="dk1"/>
                </a:solidFill>
              </a:rPr>
              <a:t>84%</a:t>
            </a:r>
            <a:r>
              <a:rPr lang="en-US" sz="2000">
                <a:solidFill>
                  <a:schemeClr val="dk1"/>
                </a:solidFill>
              </a:rPr>
              <a:t> en todos los encuentros</a:t>
            </a:r>
            <a:endParaRPr/>
          </a:p>
        </p:txBody>
      </p:sp>
      <p:sp>
        <p:nvSpPr>
          <p:cNvPr id="143" name="Google Shape;143;p8"/>
          <p:cNvSpPr txBox="1"/>
          <p:nvPr/>
        </p:nvSpPr>
        <p:spPr>
          <a:xfrm>
            <a:off x="564950" y="3263425"/>
            <a:ext cx="33609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87F84"/>
                </a:solidFill>
              </a:rPr>
              <a:t>Debilidad NO</a:t>
            </a:r>
            <a:endParaRPr b="1" sz="2000">
              <a:solidFill>
                <a:srgbClr val="387F84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Influyen factores personales o contextuales que no estaban en los datos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desbalanceo de datos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0e885ff54_0_7"/>
          <p:cNvSpPr txBox="1"/>
          <p:nvPr/>
        </p:nvSpPr>
        <p:spPr>
          <a:xfrm>
            <a:off x="250350" y="481275"/>
            <a:ext cx="11691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DEL DESEMPEÑO DE LOS MODELOS</a:t>
            </a:r>
            <a:endParaRPr sz="1200"/>
          </a:p>
        </p:txBody>
      </p:sp>
      <p:sp>
        <p:nvSpPr>
          <p:cNvPr id="149" name="Google Shape;149;g390e885ff54_0_7"/>
          <p:cNvSpPr txBox="1"/>
          <p:nvPr/>
        </p:nvSpPr>
        <p:spPr>
          <a:xfrm>
            <a:off x="807850" y="2105250"/>
            <a:ext cx="85116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rgbClr val="387F84"/>
                </a:solidFill>
              </a:rPr>
              <a:t>La R</a:t>
            </a:r>
            <a:r>
              <a:rPr b="1" lang="en-US" sz="2000">
                <a:solidFill>
                  <a:srgbClr val="387F84"/>
                </a:solidFill>
              </a:rPr>
              <a:t>egresión Logística obtuvo el mejor desempeño</a:t>
            </a:r>
            <a:r>
              <a:rPr b="1" lang="en-US" sz="2000">
                <a:solidFill>
                  <a:schemeClr val="dk1"/>
                </a:solidFill>
              </a:rPr>
              <a:t>: </a:t>
            </a:r>
            <a:r>
              <a:rPr lang="en-US" sz="2000">
                <a:solidFill>
                  <a:schemeClr val="dk1"/>
                </a:solidFill>
              </a:rPr>
              <a:t>Logró la mayor exactitud (79.7%) y es el más equilibrado de todos.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rgbClr val="387F84"/>
                </a:solidFill>
              </a:rPr>
              <a:t>Los modelos tuvieron bajo desempeño prediciendo las inasistencias:</a:t>
            </a:r>
            <a:r>
              <a:rPr b="1" lang="en-US" sz="2000">
                <a:solidFill>
                  <a:schemeClr val="dk1"/>
                </a:solidFill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confirma que faltan datos personales (externos) para entender por qué faltan.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rgbClr val="387F84"/>
                </a:solidFill>
              </a:rPr>
              <a:t>Más complejo no significa mejor</a:t>
            </a:r>
            <a:r>
              <a:rPr lang="en-US" sz="2000">
                <a:solidFill>
                  <a:schemeClr val="dk1"/>
                </a:solidFill>
              </a:rPr>
              <a:t>: e</a:t>
            </a:r>
            <a:r>
              <a:rPr lang="en-US" sz="2000">
                <a:solidFill>
                  <a:schemeClr val="dk1"/>
                </a:solidFill>
              </a:rPr>
              <a:t>l modelo avanzado (Random Forest) no superó al básico; para este caso, la solución simple es la ideal.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50" name="Google Shape;150;g390e885ff54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83600" y="2147875"/>
            <a:ext cx="1790700" cy="25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65bcfebff_0_1475"/>
          <p:cNvSpPr txBox="1"/>
          <p:nvPr/>
        </p:nvSpPr>
        <p:spPr>
          <a:xfrm>
            <a:off x="1014100" y="309375"/>
            <a:ext cx="952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PATRONES ENCONTRADOS</a:t>
            </a:r>
            <a:endParaRPr sz="1200"/>
          </a:p>
        </p:txBody>
      </p:sp>
      <p:sp>
        <p:nvSpPr>
          <p:cNvPr id="156" name="Google Shape;156;g3865bcfebff_0_1475"/>
          <p:cNvSpPr txBox="1"/>
          <p:nvPr/>
        </p:nvSpPr>
        <p:spPr>
          <a:xfrm>
            <a:off x="1014100" y="1306275"/>
            <a:ext cx="87693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387F8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87F84"/>
                </a:solidFill>
              </a:rPr>
              <a:t>Variables más Relevantes:</a:t>
            </a:r>
            <a:endParaRPr b="1" sz="2000">
              <a:solidFill>
                <a:srgbClr val="387F8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La asistencia previa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Grados superiores.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Estudiantes mayores de 15 años.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87F84"/>
                </a:solidFill>
              </a:rPr>
              <a:t>Patrón de Comportamiento:</a:t>
            </a:r>
            <a:endParaRPr b="1" sz="2000">
              <a:solidFill>
                <a:srgbClr val="387F8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Los estudiantes con buena asistencia tienden a mantenerla.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Los grandes asistieron más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Tendencia de Desgaste: Se observó una leve disminución de asistencia en las últimas sesiones.</a:t>
            </a:r>
            <a:endParaRPr sz="2000"/>
          </a:p>
        </p:txBody>
      </p:sp>
      <p:pic>
        <p:nvPicPr>
          <p:cNvPr id="157" name="Google Shape;157;g3865bcfebff_0_14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3225" y="1658275"/>
            <a:ext cx="2103800" cy="210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0e885ff54_0_0"/>
          <p:cNvSpPr txBox="1"/>
          <p:nvPr/>
        </p:nvSpPr>
        <p:spPr>
          <a:xfrm>
            <a:off x="2423500" y="326575"/>
            <a:ext cx="8528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3000"/>
          </a:p>
        </p:txBody>
      </p:sp>
      <p:sp>
        <p:nvSpPr>
          <p:cNvPr id="163" name="Google Shape;163;g390e885ff54_0_0"/>
          <p:cNvSpPr txBox="1"/>
          <p:nvPr/>
        </p:nvSpPr>
        <p:spPr>
          <a:xfrm>
            <a:off x="739000" y="1684425"/>
            <a:ext cx="73257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Los modelos lograron identificar patrones claros y variables clave como la edad y la asistencia previa.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Predecir la asistencia fue el reto, para predecir </a:t>
            </a:r>
            <a:r>
              <a:rPr lang="en-US" sz="2000"/>
              <a:t>quién</a:t>
            </a:r>
            <a:r>
              <a:rPr lang="en-US" sz="2000"/>
              <a:t> </a:t>
            </a:r>
            <a:r>
              <a:rPr lang="en-US" sz="2000"/>
              <a:t>faltará</a:t>
            </a:r>
            <a:r>
              <a:rPr lang="en-US" sz="2000"/>
              <a:t> hacen falta datos sobre motivación y entorno personal.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Se confirmó que los estudiantes de grados superiores tienen mayor constancia y responsabilidad.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Los modelos pueden usarse en futuros proyectos para mejorar la retención estudiantil.</a:t>
            </a:r>
            <a:endParaRPr sz="2000"/>
          </a:p>
        </p:txBody>
      </p:sp>
      <p:pic>
        <p:nvPicPr>
          <p:cNvPr id="164" name="Google Shape;164;g390e885ff5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2625" y="1974900"/>
            <a:ext cx="2381250" cy="19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0e885ff54_0_15"/>
          <p:cNvSpPr txBox="1"/>
          <p:nvPr/>
        </p:nvSpPr>
        <p:spPr>
          <a:xfrm>
            <a:off x="4107925" y="532825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PASOS A SEGUIR</a:t>
            </a:r>
            <a:endParaRPr/>
          </a:p>
        </p:txBody>
      </p:sp>
      <p:sp>
        <p:nvSpPr>
          <p:cNvPr id="170" name="Google Shape;170;g390e885ff54_0_15"/>
          <p:cNvSpPr txBox="1"/>
          <p:nvPr/>
        </p:nvSpPr>
        <p:spPr>
          <a:xfrm>
            <a:off x="756275" y="1890675"/>
            <a:ext cx="69990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87F84"/>
                </a:solidFill>
              </a:rPr>
              <a:t>Paso </a:t>
            </a:r>
            <a:r>
              <a:rPr b="1" lang="en-US" sz="2000">
                <a:solidFill>
                  <a:srgbClr val="387F84"/>
                </a:solidFill>
              </a:rPr>
              <a:t>1</a:t>
            </a:r>
            <a:r>
              <a:rPr b="1" lang="en-US" sz="2000">
                <a:solidFill>
                  <a:schemeClr val="dk1"/>
                </a:solidFill>
              </a:rPr>
              <a:t>:</a:t>
            </a:r>
            <a:r>
              <a:rPr lang="en-US" sz="2000">
                <a:solidFill>
                  <a:schemeClr val="dk1"/>
                </a:solidFill>
              </a:rPr>
              <a:t> enriquecer el modelo. Incorporar nuevas variables: personales, contextuales, de motivación para mejorar la predicción de la inasistencia.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87F84"/>
                </a:solidFill>
              </a:rPr>
              <a:t>Paso </a:t>
            </a:r>
            <a:r>
              <a:rPr b="1" lang="en-US" sz="2000">
                <a:solidFill>
                  <a:srgbClr val="387F84"/>
                </a:solidFill>
              </a:rPr>
              <a:t>2:</a:t>
            </a:r>
            <a:r>
              <a:rPr lang="en-US" sz="2000">
                <a:solidFill>
                  <a:schemeClr val="dk1"/>
                </a:solidFill>
              </a:rPr>
              <a:t> aplicar los modelos en proyectos futuros como herramientas de seguimiento.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87F84"/>
                </a:solidFill>
              </a:rPr>
              <a:t>Paso</a:t>
            </a:r>
            <a:r>
              <a:rPr b="1" lang="en-US" sz="2000">
                <a:solidFill>
                  <a:srgbClr val="387F84"/>
                </a:solidFill>
              </a:rPr>
              <a:t> 3:</a:t>
            </a:r>
            <a:r>
              <a:rPr lang="en-US" sz="2000">
                <a:solidFill>
                  <a:schemeClr val="dk1"/>
                </a:solidFill>
              </a:rPr>
              <a:t> diseñar estrategias de retención (ej. refuerzos) para las últimas sesiones, donde la asistencia tiende a bajar.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87F84"/>
                </a:solidFill>
              </a:rPr>
              <a:t>Paso 4: </a:t>
            </a:r>
            <a:r>
              <a:rPr lang="en-US" sz="2000">
                <a:solidFill>
                  <a:schemeClr val="dk1"/>
                </a:solidFill>
              </a:rPr>
              <a:t>Diseñar un manual metodológico para que este modelo se pueda aplicar en otros colegios o proyectos educativos.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71" name="Google Shape;171;g390e885ff54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4800" y="2350763"/>
            <a:ext cx="3309850" cy="23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 txBox="1"/>
          <p:nvPr/>
        </p:nvSpPr>
        <p:spPr>
          <a:xfrm>
            <a:off x="-1" y="192506"/>
            <a:ext cx="12192001" cy="723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REFERENCIAS</a:t>
            </a:r>
            <a:endParaRPr/>
          </a:p>
        </p:txBody>
      </p:sp>
      <p:sp>
        <p:nvSpPr>
          <p:cNvPr id="177" name="Google Shape;177;p9"/>
          <p:cNvSpPr txBox="1"/>
          <p:nvPr/>
        </p:nvSpPr>
        <p:spPr>
          <a:xfrm>
            <a:off x="954800" y="1072775"/>
            <a:ext cx="104958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Barreno-Freire, S. N., Haro-Jácome, O. F., &amp; Flores-Yandún, P. F. (2019). Relación entre rendimiento académico y asistencia como factores de promoción estudiantil. Revista Cátedra, 2(1), 44-59. https://dialnet.unirioja.es/servlet/articulo?codigo=9101145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Dúo Terrón, P., Moreno Guerrero, A. J., López Belmonte, J., &amp; Marín Marín, J. A. (2023). Inteligencia Artificial y Machine Learning como recurso educativo desde la perspectiva de docentes en distintas etapas educativas no universitarias. RiiTE Revista interuniversitaria de investigación en Tecnología Educativa, 15, 58–78. https://doi.org/10.6018/riite.579611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Moodley, R., Chiclana, F., Carter, J., &amp; Caraffini, F. (2020). Using Data Mining in Educational Administration: A Case Study on Improving School Attendance. Applied Sciences, 10(9), 3116. [doi:10.3390/app10093116]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Jarbou, M., Won, D., Gillis-Mattson, J., &amp; Romanczyk, R. (2022). Deep learning-based school attendance prediction for autistic students. Scientific Reports, 12, Article 1431. https://doi.org/10.1038/s41598-022-05258-z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Universidad de Córdoba. (2024). Modelo de recomendación de acciones para la prevención de la inasistencia escolar basado en un sistema predictivo de aprendizaje automático. Universidad de Córdoba. https://repositorio.unicordoba.edu.co/entities/publication/a0d9e45e-29d1-4119-bfb4-ff5c6c16e48a/full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Guiral, H., Ospina López, J. E., Reina Morales, H. D., Y López Bedoya, G. (2024). Investigación sobre la deserción escolar en Colombia mediante el uso de técnicas profesionales de machine learning [Trabajo de grado, Corporación Universitaria Remington]. Repositorio Institucional Remington. https://repositorio.uniremington.edu.co/entities/publication/3a2e1b04-a3fe-4add-af0d-ea3370ab1a65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804672" y="5116529"/>
            <a:ext cx="10592174" cy="10006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¡GRACIAS!</a:t>
            </a:r>
            <a:endParaRPr/>
          </a:p>
        </p:txBody>
      </p:sp>
      <p:pic>
        <p:nvPicPr>
          <p:cNvPr descr="Vista de una ciudad desde lo alto de una colina&#10;&#10;Descripción generada automáticamente" id="184" name="Google Shape;184;p10"/>
          <p:cNvPicPr preferRelativeResize="0"/>
          <p:nvPr/>
        </p:nvPicPr>
        <p:blipFill rotWithShape="1">
          <a:blip r:embed="rId3">
            <a:alphaModFix/>
          </a:blip>
          <a:srcRect b="0" l="0" r="3513" t="0"/>
          <a:stretch/>
        </p:blipFill>
        <p:spPr>
          <a:xfrm>
            <a:off x="-1" y="10"/>
            <a:ext cx="12192001" cy="42014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" name="Google Shape;185;p10"/>
          <p:cNvGrpSpPr/>
          <p:nvPr/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>
          <p:nvSpPr>
            <p:cNvPr id="186" name="Google Shape;186;p10"/>
            <p:cNvSpPr/>
            <p:nvPr/>
          </p:nvSpPr>
          <p:spPr>
            <a:xfrm>
              <a:off x="-305" y="3676854"/>
              <a:ext cx="9182100" cy="1019102"/>
            </a:xfrm>
            <a:custGeom>
              <a:rect b="b" l="l" r="r" t="t"/>
              <a:pathLst>
                <a:path extrusionOk="0" h="1019102" w="918210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0"/>
            <p:cNvSpPr/>
            <p:nvPr/>
          </p:nvSpPr>
          <p:spPr>
            <a:xfrm>
              <a:off x="-305" y="3144820"/>
              <a:ext cx="9182100" cy="932744"/>
            </a:xfrm>
            <a:custGeom>
              <a:rect b="b" l="l" r="r" t="t"/>
              <a:pathLst>
                <a:path extrusionOk="0" h="932744" w="918210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0"/>
            <p:cNvSpPr/>
            <p:nvPr/>
          </p:nvSpPr>
          <p:spPr>
            <a:xfrm>
              <a:off x="-305" y="3580789"/>
              <a:ext cx="9182100" cy="544245"/>
            </a:xfrm>
            <a:custGeom>
              <a:rect b="b" l="l" r="r" t="t"/>
              <a:pathLst>
                <a:path extrusionOk="0" h="544245" w="918210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0"/>
            <p:cNvSpPr/>
            <p:nvPr/>
          </p:nvSpPr>
          <p:spPr>
            <a:xfrm>
              <a:off x="-305" y="3324550"/>
              <a:ext cx="9182100" cy="765639"/>
            </a:xfrm>
            <a:custGeom>
              <a:rect b="b" l="l" r="r" t="t"/>
              <a:pathLst>
                <a:path extrusionOk="0" h="765639" w="918210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2019-10-25T19:41:03Z</dcterms:created>
  <dc:creator>Lider Centro de Produccion y Medios</dc:creator>
</cp:coreProperties>
</file>